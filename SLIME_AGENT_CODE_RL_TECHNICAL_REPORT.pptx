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BD3D5"/>
                </a:solidFill>
                <a:latin typeface="Microsoft YaHei"/>
              </a:rPr>
              <a:t>TECHNICAL REPORT  /  2026.07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79095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Agent Code RL
训练框架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7772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2DCDE"/>
                </a:solidFill>
                <a:latin typeface="Microsoft YaHei"/>
              </a:rPr>
              <a:t>slime × Qwen3.5-35B-A3B × 双服务器 Remote DockerSandbox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01568"/>
            <a:ext cx="2176272" cy="329184"/>
          </a:xfrm>
          <a:prstGeom prst="roundRect">
            <a:avLst>
              <a:gd name="adj" fmla="val 8000"/>
            </a:avLst>
          </a:prstGeom>
          <a:solidFill>
            <a:srgbClr val="2B8A62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401568"/>
            <a:ext cx="21762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单步训练闭环已验证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40680"/>
            <a:ext cx="68580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EC9CC"/>
                </a:solidFill>
                <a:latin typeface="Microsoft YaHei"/>
              </a:rPr>
              <a:t>从模型生成、代码执行、测试反馈到 GRPO 更新与 checkpoint 的完整闭环</a:t>
            </a:r>
          </a:p>
        </p:txBody>
      </p:sp>
      <p:sp>
        <p:nvSpPr>
          <p:cNvPr id="9" name="Oval 8"/>
          <p:cNvSpPr/>
          <p:nvPr/>
        </p:nvSpPr>
        <p:spPr>
          <a:xfrm>
            <a:off x="8366760" y="1847088"/>
            <a:ext cx="713232" cy="713232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847088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79992" y="2203704"/>
            <a:ext cx="704088" cy="0"/>
          </a:xfrm>
          <a:prstGeom prst="line">
            <a:avLst/>
          </a:prstGeom>
          <a:ln w="19050">
            <a:solidFill>
              <a:srgbClr val="687E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784080" y="1847088"/>
            <a:ext cx="713232" cy="713232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1847088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CODE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366760" y="2203704"/>
            <a:ext cx="2130552" cy="1234440"/>
          </a:xfrm>
          <a:prstGeom prst="line">
            <a:avLst/>
          </a:prstGeom>
          <a:ln w="19050">
            <a:solidFill>
              <a:srgbClr val="687E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366760" y="3081528"/>
            <a:ext cx="713232" cy="713232"/>
          </a:xfrm>
          <a:prstGeom prst="ellipse">
            <a:avLst/>
          </a:prstGeom>
          <a:solidFill>
            <a:srgbClr val="E09E30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81528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79992" y="3438144"/>
            <a:ext cx="704088" cy="0"/>
          </a:xfrm>
          <a:prstGeom prst="line">
            <a:avLst/>
          </a:prstGeom>
          <a:ln w="19050">
            <a:solidFill>
              <a:srgbClr val="687E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784080" y="3081528"/>
            <a:ext cx="713232" cy="7132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3081528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R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366760" y="3438144"/>
            <a:ext cx="2130552" cy="1234440"/>
          </a:xfrm>
          <a:prstGeom prst="line">
            <a:avLst/>
          </a:prstGeom>
          <a:ln w="19050">
            <a:solidFill>
              <a:srgbClr val="687E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366760" y="4315968"/>
            <a:ext cx="713232" cy="713232"/>
          </a:xfrm>
          <a:prstGeom prst="ellipse">
            <a:avLst/>
          </a:prstGeom>
          <a:solidFill>
            <a:srgbClr val="2B8A62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315968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897880"/>
            <a:ext cx="3246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0B1B5"/>
                </a:solidFill>
                <a:latin typeface="Microsoft YaHei"/>
              </a:rPr>
              <a:t>已验证运行  /  20260718_031727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汇报结论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当前已经搭建的是可执行、可评价、可训练、可保存的 Agent Code RL 机械闭环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64922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371600"/>
            <a:ext cx="438912" cy="438912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716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07592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闭环成立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298448"/>
            <a:ext cx="41605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4"/>
                </a:solidFill>
                <a:latin typeface="Microsoft YaHei"/>
              </a:rPr>
              <a:t>模型生成行动，sandbox 执行代码，clean eval 产出 reward，GRPO 回到 actor 更新。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87168"/>
            <a:ext cx="64922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2670048"/>
            <a:ext cx="438912" cy="438912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670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06040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计算解耦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96896"/>
            <a:ext cx="41605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4"/>
                </a:solidFill>
                <a:latin typeface="Microsoft YaHei"/>
              </a:rPr>
              <a:t>双 H200 专注模型 rollout 与训练；远端 Docker 节点承接高频、隔离的代码执行。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85615"/>
            <a:ext cx="64922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3968495"/>
            <a:ext cx="438912" cy="43891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968495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04487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35B 跑通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95343"/>
            <a:ext cx="41605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4"/>
                </a:solidFill>
                <a:latin typeface="Microsoft YaHei"/>
              </a:rPr>
              <a:t>Qwen3.5-35B-A3B 完成两条 trajectory、backward、optimizer 和 iteration 0 保存。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188720"/>
            <a:ext cx="4069080" cy="4133087"/>
          </a:xfrm>
          <a:prstGeom prst="roundRect">
            <a:avLst>
              <a:gd name="adj" fmla="val 8000"/>
            </a:avLst>
          </a:prstGeom>
          <a:solidFill>
            <a:srgbClr val="1D2830"/>
          </a:solidFill>
          <a:ln w="12700">
            <a:solidFill>
              <a:srgbClr val="1D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1481328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当前成熟度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1993392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BD3D5"/>
                </a:solidFill>
                <a:latin typeface="Microsoft YaHei"/>
              </a:rPr>
              <a:t>L0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93392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跨机连接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05872" y="1984248"/>
            <a:ext cx="713232" cy="246888"/>
          </a:xfrm>
          <a:prstGeom prst="roundRect">
            <a:avLst>
              <a:gd name="adj" fmla="val 8000"/>
            </a:avLst>
          </a:prstGeom>
          <a:solidFill>
            <a:srgbClr val="2B8A62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1984248"/>
            <a:ext cx="7132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560320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BD3D5"/>
                </a:solidFill>
                <a:latin typeface="Microsoft YaHei"/>
              </a:rPr>
              <a:t>L1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60320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rollout + sandbox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05872" y="2551176"/>
            <a:ext cx="713232" cy="246888"/>
          </a:xfrm>
          <a:prstGeom prst="roundRect">
            <a:avLst>
              <a:gd name="adj" fmla="val 8000"/>
            </a:avLst>
          </a:prstGeom>
          <a:solidFill>
            <a:srgbClr val="2B8A62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05872" y="2551176"/>
            <a:ext cx="7132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3127248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BD3D5"/>
                </a:solidFill>
                <a:latin typeface="Microsoft YaHei"/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127248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单步 GRPO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05872" y="3118104"/>
            <a:ext cx="713232" cy="246888"/>
          </a:xfrm>
          <a:prstGeom prst="roundRect">
            <a:avLst>
              <a:gd name="adj" fmla="val 8000"/>
            </a:avLst>
          </a:prstGeom>
          <a:solidFill>
            <a:srgbClr val="2B8A62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3118104"/>
            <a:ext cx="7132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3694176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BD3D5"/>
                </a:solidFill>
                <a:latin typeface="Microsoft YaHei"/>
              </a:rPr>
              <a:t>L3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694176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checkpoint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05872" y="3685032"/>
            <a:ext cx="713232" cy="246888"/>
          </a:xfrm>
          <a:prstGeom prst="roundRect">
            <a:avLst>
              <a:gd name="adj" fmla="val 8000"/>
            </a:avLst>
          </a:prstGeom>
          <a:solidFill>
            <a:srgbClr val="2B8A62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5872" y="3685032"/>
            <a:ext cx="7132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DONE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4112" y="4261104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BD3D5"/>
                </a:solidFill>
                <a:latin typeface="Microsoft YaHei"/>
              </a:rPr>
              <a:t>L4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261104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正式数据 / 多步收敛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05872" y="4251960"/>
            <a:ext cx="713232" cy="246888"/>
          </a:xfrm>
          <a:prstGeom prst="roundRect">
            <a:avLst>
              <a:gd name="adj" fmla="val 8000"/>
            </a:avLst>
          </a:prstGeom>
          <a:solidFill>
            <a:srgbClr val="E09E30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05872" y="4251960"/>
            <a:ext cx="7132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754880"/>
            <a:ext cx="3383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5DFE1"/>
                </a:solidFill>
                <a:latin typeface="Microsoft YaHei"/>
              </a:rPr>
              <a:t>结论：基础设施可用，训练有效性尚待正式数据验证。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结论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Agent Code RL：优化对象是一条可执行轨迹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不同于静态问答，训练信号来自模型与代码环境多轮交互后的可验证结果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353312"/>
            <a:ext cx="658368" cy="658368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35331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48840"/>
            <a:ext cx="1691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542032"/>
            <a:ext cx="1691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4"/>
                </a:solidFill>
                <a:latin typeface="Microsoft YaHei"/>
              </a:rPr>
              <a:t>自然语言
+ repo / 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10512" y="1682496"/>
            <a:ext cx="1042416" cy="0"/>
          </a:xfrm>
          <a:prstGeom prst="line">
            <a:avLst/>
          </a:prstGeom>
          <a:ln w="2794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383280" y="1353312"/>
            <a:ext cx="658368" cy="658368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5331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148840"/>
            <a:ext cx="1691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行动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2542032"/>
            <a:ext cx="1691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4"/>
                </a:solidFill>
                <a:latin typeface="Microsoft YaHei"/>
              </a:rPr>
              <a:t>读文件 / 改代码
+运行命令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78224" y="1682496"/>
            <a:ext cx="1042416" cy="0"/>
          </a:xfrm>
          <a:prstGeom prst="line">
            <a:avLst/>
          </a:prstGeom>
          <a:ln w="2794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50992" y="1353312"/>
            <a:ext cx="658368" cy="658368"/>
          </a:xfrm>
          <a:prstGeom prst="ellipse">
            <a:avLst/>
          </a:prstGeom>
          <a:solidFill>
            <a:srgbClr val="E09E30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35331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48840"/>
            <a:ext cx="1691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542032"/>
            <a:ext cx="1691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4"/>
                </a:solidFill>
                <a:latin typeface="Microsoft YaHei"/>
              </a:rPr>
              <a:t>DockerSandbox
+状态转移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45936" y="1682496"/>
            <a:ext cx="1042416" cy="0"/>
          </a:xfrm>
          <a:prstGeom prst="line">
            <a:avLst/>
          </a:prstGeom>
          <a:ln w="2794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918704" y="1353312"/>
            <a:ext cx="658368" cy="6583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35331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148840"/>
            <a:ext cx="1691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评价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542032"/>
            <a:ext cx="1691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4"/>
                </a:solidFill>
                <a:latin typeface="Microsoft YaHei"/>
              </a:rPr>
              <a:t>clean eval
+pytest / reward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13648" y="1682496"/>
            <a:ext cx="1042416" cy="0"/>
          </a:xfrm>
          <a:prstGeom prst="line">
            <a:avLst/>
          </a:prstGeom>
          <a:ln w="2794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186416" y="1353312"/>
            <a:ext cx="658368" cy="658368"/>
          </a:xfrm>
          <a:prstGeom prst="ellipse">
            <a:avLst/>
          </a:prstGeom>
          <a:solidFill>
            <a:srgbClr val="2B8A62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86416" y="135331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2148840"/>
            <a:ext cx="1691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542032"/>
            <a:ext cx="1691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4"/>
                </a:solidFill>
                <a:latin typeface="Microsoft YaHei"/>
              </a:rPr>
              <a:t>GRPO advantage
+policy update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840480"/>
            <a:ext cx="1077163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" y="4123944"/>
            <a:ext cx="45720" cy="256032"/>
          </a:xfrm>
          <a:prstGeom prst="rect">
            <a:avLst/>
          </a:prstGeom>
          <a:solidFill>
            <a:srgbClr val="0F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4096512"/>
            <a:ext cx="288950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训练样本的最小闭环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498848"/>
            <a:ext cx="306324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D2830"/>
                </a:solidFill>
                <a:latin typeface="Cascadia Mono"/>
              </a:rPr>
              <a:t>prompt + trajectory + patch + test result + reward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4123944"/>
            <a:ext cx="45720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9976" y="4096512"/>
            <a:ext cx="284378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关键差异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4498848"/>
            <a:ext cx="299923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4"/>
                </a:solidFill>
                <a:latin typeface="Microsoft YaHei"/>
              </a:rPr>
              <a:t>奖励不来自语言相似度，而来自代码是否真正通过验证。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4123944"/>
            <a:ext cx="45720" cy="256032"/>
          </a:xfrm>
          <a:prstGeom prst="rect">
            <a:avLst/>
          </a:prstGeom>
          <a:solidFill>
            <a:srgbClr val="E0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71816" y="4096512"/>
            <a:ext cx="330098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工程含义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498848"/>
            <a:ext cx="34290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4"/>
                </a:solidFill>
                <a:latin typeface="Microsoft YaHei"/>
              </a:rPr>
              <a:t>训练系统必须同时管理模型状态、容器状态、网络、超时和清理。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训练范式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当前数据场景：calculator 修复任务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用于验证机械闭环，不是正式训练数据集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70432"/>
            <a:ext cx="47548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72184"/>
            <a:ext cx="45720" cy="256032"/>
          </a:xfrm>
          <a:prstGeom prst="rect">
            <a:avLst/>
          </a:prstGeom>
          <a:solidFill>
            <a:srgbClr val="0F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44752"/>
            <a:ext cx="403250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Smoke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160520" cy="3429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F7C86"/>
                </a:solidFill>
                <a:latin typeface="Microsoft YaHei"/>
              </a:rPr>
              <a:t>输入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本地 calculator repo；add 函数错误地执行减法。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3770A6"/>
                </a:solidFill>
                <a:latin typeface="Microsoft YaHei"/>
              </a:rPr>
              <a:t>Agent 行动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1D2830"/>
                </a:solidFill>
                <a:latin typeface="Microsoft YaHei"/>
              </a:rPr>
              <a:t>检查源码 -&gt; 修改实现 -&gt; 生成 source diff。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9E30"/>
                </a:solidFill>
                <a:latin typeface="Microsoft YaHei"/>
              </a:rPr>
              <a:t>环境评价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1D2830"/>
                </a:solidFill>
                <a:latin typeface="Microsoft YaHei"/>
              </a:rPr>
              <a:t>在全新 clean-eval container 中应用 patch 并运行 pytest。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76F51"/>
                </a:solidFill>
                <a:latin typeface="Microsoft YaHei"/>
              </a:rPr>
              <a:t>验收信号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D2830"/>
                </a:solidFill>
                <a:latin typeface="Cascadia Mono"/>
              </a:rPr>
              <a:t>reward=1.00  /  applied=True  /  agent_exit_code=0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261872"/>
            <a:ext cx="4892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44475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44752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380744"/>
            <a:ext cx="32004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错误代码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39912" y="1975104"/>
            <a:ext cx="0" cy="347472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2340863"/>
            <a:ext cx="4892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523743"/>
            <a:ext cx="960120" cy="310896"/>
          </a:xfrm>
          <a:prstGeom prst="roundRect">
            <a:avLst>
              <a:gd name="adj" fmla="val 8000"/>
            </a:avLst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523743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459735"/>
            <a:ext cx="32004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模型修改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39912" y="3054095"/>
            <a:ext cx="0" cy="347472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89320" y="3419856"/>
            <a:ext cx="4892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3602736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09E30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602736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538728"/>
            <a:ext cx="32004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隔离验证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39912" y="4133088"/>
            <a:ext cx="0" cy="347472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89320" y="4498848"/>
            <a:ext cx="4892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4681728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681728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REWARD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617720"/>
            <a:ext cx="32004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可执行反馈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650992"/>
            <a:ext cx="4892040" cy="530352"/>
          </a:xfrm>
          <a:prstGeom prst="roundRect">
            <a:avLst>
              <a:gd name="adj" fmla="val 8000"/>
            </a:avLst>
          </a:prstGeom>
          <a:solidFill>
            <a:srgbClr val="FAF0D7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5742432"/>
            <a:ext cx="44805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2830"/>
                </a:solidFill>
                <a:latin typeface="Microsoft YaHei"/>
              </a:rPr>
              <a:t>当前两条 trajectory 均成功，因此组内 reward 没有方差。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数据与奖励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双服务器框架：计算面与执行面解耦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模型 rollout 仍在双 H200；迁移的是 agent 的代码执行与 clean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6748272" cy="4956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335024"/>
            <a:ext cx="1371600" cy="310896"/>
          </a:xfrm>
          <a:prstGeom prst="roundRect">
            <a:avLst>
              <a:gd name="adj" fmla="val 8000"/>
            </a:avLst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3502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GPU / 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1298448"/>
            <a:ext cx="4434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D2830"/>
                </a:solidFill>
                <a:latin typeface="Microsoft YaHei"/>
              </a:rPr>
              <a:t>192.168.110.102  / 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20116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B74"/>
                </a:solidFill>
                <a:latin typeface="Microsoft YaHei"/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93975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F7C86"/>
                </a:solidFill>
                <a:latin typeface="Microsoft YaHei"/>
              </a:rPr>
              <a:t>2 × H200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1874519"/>
            <a:ext cx="19659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B74"/>
                </a:solidFill>
                <a:latin typeface="Microsoft YaHe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093975"/>
            <a:ext cx="1965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770A6"/>
                </a:solidFill>
                <a:latin typeface="Microsoft YaHei"/>
              </a:rPr>
              <a:t>35B-A3B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1874519"/>
            <a:ext cx="20574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B74"/>
                </a:solidFill>
                <a:latin typeface="Microsoft YaHei"/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093975"/>
            <a:ext cx="2057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76F51"/>
                </a:solidFill>
                <a:latin typeface="Microsoft YaHei"/>
              </a:rPr>
              <a:t>checkpoint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78892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DEF1F1"/>
          </a:solidFill>
          <a:ln w="12700">
            <a:solidFill>
              <a:srgbClr val="DE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2871216"/>
            <a:ext cx="10972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7C86"/>
                </a:solidFill>
                <a:latin typeface="Microsoft YaHei"/>
              </a:rPr>
              <a:t>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9112" y="2889504"/>
            <a:ext cx="13716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D2830"/>
                </a:solidFill>
                <a:latin typeface="Microsoft YaHei"/>
              </a:rPr>
              <a:t>编排 actor /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41063" y="278892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E5EEF7"/>
          </a:solidFill>
          <a:ln w="12700">
            <a:solidFill>
              <a:srgbClr val="E5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05655" y="2871216"/>
            <a:ext cx="10972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770A6"/>
                </a:solidFill>
                <a:latin typeface="Microsoft YaHei"/>
              </a:rPr>
              <a:t>SGLang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5" y="2889504"/>
            <a:ext cx="13716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D2830"/>
                </a:solidFill>
                <a:latin typeface="Microsoft YaHei"/>
              </a:rPr>
              <a:t>TP2 / EP2 rollout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8620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2700">
            <a:solidFill>
              <a:srgbClr val="E1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3968496"/>
            <a:ext cx="10972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8A62"/>
                </a:solidFill>
                <a:latin typeface="Microsoft YaHei"/>
              </a:rPr>
              <a:t>Megatron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9112" y="3986784"/>
            <a:ext cx="13716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D2830"/>
                </a:solidFill>
                <a:latin typeface="Microsoft YaHei"/>
              </a:rPr>
              <a:t>TP1 / EP2 / DP2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41063" y="388620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 w="12700"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05655" y="3968496"/>
            <a:ext cx="10972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76F51"/>
                </a:solidFill>
                <a:latin typeface="Microsoft YaHei"/>
              </a:rPr>
              <a:t>Adapter :18001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5" y="3986784"/>
            <a:ext cx="13716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D2830"/>
                </a:solidFill>
                <a:latin typeface="Microsoft YaHei"/>
              </a:rPr>
              <a:t>agent 模型接口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266944"/>
            <a:ext cx="5943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Cascadia Mono"/>
              </a:rPr>
              <a:t>/data：模型、rollout dump、日志、cpu_master、checkpoint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097280"/>
            <a:ext cx="3401568" cy="4956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85632" y="1335024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1335024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SANDBOX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1773936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192.168.110.101
cu01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85632" y="2606040"/>
            <a:ext cx="2852928" cy="640080"/>
          </a:xfrm>
          <a:prstGeom prst="roundRect">
            <a:avLst>
              <a:gd name="adj" fmla="val 8000"/>
            </a:avLst>
          </a:prstGeom>
          <a:solidFill>
            <a:srgbClr val="F7F9F8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68512" y="2688336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830"/>
                </a:solidFill>
                <a:latin typeface="Microsoft YaHei"/>
              </a:rPr>
              <a:t>Docker 24.0.9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6688" y="2688336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remote daemon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85632" y="3502152"/>
            <a:ext cx="2852928" cy="640080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 w="12700"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512" y="3584448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830"/>
                </a:solidFill>
                <a:latin typeface="Microsoft YaHei"/>
              </a:rPr>
              <a:t>task container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6688" y="3584448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agent 修改代码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85632" y="4398264"/>
            <a:ext cx="2852928" cy="640080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 w="12700"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4480560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830"/>
                </a:solidFill>
                <a:latin typeface="Microsoft YaHei"/>
              </a:rPr>
              <a:t>clean-eval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4480560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pytest + reward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7388352" y="2971800"/>
            <a:ext cx="795527" cy="0"/>
          </a:xfrm>
          <a:prstGeom prst="line">
            <a:avLst/>
          </a:prstGeom>
          <a:ln w="30480">
            <a:solidFill>
              <a:srgbClr val="E76F5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22592" y="2487168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 w="12700"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2592" y="248716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76F51"/>
                </a:solidFill>
                <a:latin typeface="Microsoft YaHei"/>
              </a:rPr>
              <a:t>HTTP :18001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88352" y="4270248"/>
            <a:ext cx="795527" cy="0"/>
          </a:xfrm>
          <a:prstGeom prst="line">
            <a:avLst/>
          </a:prstGeom>
          <a:ln w="30480">
            <a:solidFill>
              <a:srgbClr val="0F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903720" y="4572000"/>
            <a:ext cx="1874519" cy="310896"/>
          </a:xfrm>
          <a:prstGeom prst="roundRect">
            <a:avLst>
              <a:gd name="adj" fmla="val 8000"/>
            </a:avLst>
          </a:prstGeom>
          <a:solidFill>
            <a:srgbClr val="DEF1F1"/>
          </a:solidFill>
          <a:ln w="12700">
            <a:solidFill>
              <a:srgbClr val="DE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457200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F7C86"/>
                </a:solidFill>
                <a:latin typeface="Microsoft YaHei"/>
              </a:rPr>
              <a:t>SSH socket tunnel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总体架构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一条 rollout 如何跨两台服务器完成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控制面走 SSH/Docker API；模型数据面走 adapter 18001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B74"/>
                </a:solidFill>
                <a:latin typeface="Microsoft YaHei"/>
              </a:rPr>
              <a:t>时间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051560"/>
            <a:ext cx="3886200" cy="347472"/>
          </a:xfrm>
          <a:prstGeom prst="roundRect">
            <a:avLst>
              <a:gd name="adj" fmla="val 8000"/>
            </a:avLst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051560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.102  GPU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051560"/>
            <a:ext cx="4526280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051560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.101  DockerSandbox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1645920"/>
            <a:ext cx="384048" cy="384048"/>
          </a:xfrm>
          <a:prstGeom prst="ellipse">
            <a:avLst/>
          </a:prstGeom>
          <a:solidFill>
            <a:srgbClr val="2D3B43"/>
          </a:solidFill>
          <a:ln w="12700">
            <a:solidFill>
              <a:srgbClr val="2D3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6459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1600200"/>
            <a:ext cx="3886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2848" y="1645920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创建 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673352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Docker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600200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73352"/>
            <a:ext cx="3977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task container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7880" y="1929384"/>
            <a:ext cx="521208" cy="0"/>
          </a:xfrm>
          <a:prstGeom prst="line">
            <a:avLst/>
          </a:prstGeom>
          <a:ln w="25400">
            <a:solidFill>
              <a:srgbClr val="E76F5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94944" y="2542032"/>
            <a:ext cx="384048" cy="384048"/>
          </a:xfrm>
          <a:prstGeom prst="ellipse">
            <a:avLst/>
          </a:prstGeom>
          <a:solidFill>
            <a:srgbClr val="2D3B43"/>
          </a:solidFill>
          <a:ln w="12700">
            <a:solidFill>
              <a:srgbClr val="2D3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5420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2496312"/>
            <a:ext cx="3886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2542032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agent 请求模型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569464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adapter :18001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496312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569464"/>
            <a:ext cx="3977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HTTP callback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897880" y="2825496"/>
            <a:ext cx="521208" cy="0"/>
          </a:xfrm>
          <a:prstGeom prst="line">
            <a:avLst/>
          </a:prstGeom>
          <a:ln w="25400">
            <a:solidFill>
              <a:srgbClr val="0F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94944" y="3438144"/>
            <a:ext cx="384048" cy="384048"/>
          </a:xfrm>
          <a:prstGeom prst="ellipse">
            <a:avLst/>
          </a:prstGeom>
          <a:solidFill>
            <a:srgbClr val="2D3B43"/>
          </a:solidFill>
          <a:ln w="12700">
            <a:solidFill>
              <a:srgbClr val="2D3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3438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392424"/>
            <a:ext cx="3886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12848" y="3438144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SGLang 生成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3465576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双 H200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3392424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65576"/>
            <a:ext cx="3977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读取 / 修改代码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97880" y="3648456"/>
            <a:ext cx="521208" cy="0"/>
          </a:xfrm>
          <a:prstGeom prst="line">
            <a:avLst/>
          </a:prstGeom>
          <a:ln w="19050">
            <a:solidFill>
              <a:srgbClr val="3770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897880" y="3831336"/>
            <a:ext cx="521208" cy="0"/>
          </a:xfrm>
          <a:prstGeom prst="line">
            <a:avLst/>
          </a:prstGeom>
          <a:ln w="19050">
            <a:solidFill>
              <a:srgbClr val="3770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94944" y="4334256"/>
            <a:ext cx="384048" cy="384048"/>
          </a:xfrm>
          <a:prstGeom prst="ellipse">
            <a:avLst/>
          </a:prstGeom>
          <a:solidFill>
            <a:srgbClr val="2D3B43"/>
          </a:solidFill>
          <a:ln w="12700">
            <a:solidFill>
              <a:srgbClr val="2D3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3342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4288536"/>
            <a:ext cx="3886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12848" y="4334256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收集 patch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4361688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trajectory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288536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361688"/>
            <a:ext cx="3977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clean eval + pytest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97880" y="4617720"/>
            <a:ext cx="521208" cy="0"/>
          </a:xfrm>
          <a:prstGeom prst="line">
            <a:avLst/>
          </a:prstGeom>
          <a:ln w="25400">
            <a:solidFill>
              <a:srgbClr val="E76F5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94944" y="5230368"/>
            <a:ext cx="384048" cy="384048"/>
          </a:xfrm>
          <a:prstGeom prst="ellipse">
            <a:avLst/>
          </a:prstGeom>
          <a:solidFill>
            <a:srgbClr val="2D3B43"/>
          </a:solidFill>
          <a:ln w="12700">
            <a:solidFill>
              <a:srgbClr val="2D3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52303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11680" y="5184648"/>
            <a:ext cx="3886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12848" y="5230368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接收 reward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5257800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rollout dump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46520" y="5184648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257800"/>
            <a:ext cx="3977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830"/>
                </a:solidFill>
                <a:latin typeface="Microsoft YaHei"/>
              </a:rPr>
              <a:t>销毁临时容器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5897880" y="5513832"/>
            <a:ext cx="521208" cy="0"/>
          </a:xfrm>
          <a:prstGeom prst="line">
            <a:avLst/>
          </a:prstGeom>
          <a:ln w="25400">
            <a:solidFill>
              <a:srgbClr val="0F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011680" y="6172200"/>
            <a:ext cx="8961120" cy="274320"/>
          </a:xfrm>
          <a:prstGeom prst="roundRect">
            <a:avLst>
              <a:gd name="adj" fmla="val 8000"/>
            </a:avLst>
          </a:prstGeom>
          <a:solidFill>
            <a:srgbClr val="DEF1F1"/>
          </a:solidFill>
          <a:ln w="12700">
            <a:solidFill>
              <a:srgbClr val="DE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48840" y="6181344"/>
            <a:ext cx="86868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75A63"/>
                </a:solidFill>
                <a:latin typeface="Microsoft YaHei"/>
              </a:rPr>
              <a:t>trajectory 最终回到 .102：prompt + response + patch + test result + reward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Rollout 数据流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训练面：从两条 trajectory 到 GRPO 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rollout engine 与 Megatron actor 共享 H200，通过 sleep / wake 和权重同步闭环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2618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35024"/>
            <a:ext cx="14813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7C86"/>
                </a:solidFill>
                <a:latin typeface="Microsoft YaHei"/>
              </a:rPr>
              <a:t>Prompt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29968" y="1636776"/>
            <a:ext cx="374903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32304" y="12618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2304" y="1335024"/>
            <a:ext cx="14813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770A6"/>
                </a:solidFill>
                <a:latin typeface="Microsoft YaHei"/>
              </a:rPr>
              <a:t>n=2
Rollouts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1636776"/>
            <a:ext cx="374903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34256" y="12618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1335024"/>
            <a:ext cx="14813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76F51"/>
                </a:solidFill>
                <a:latin typeface="Microsoft YaHei"/>
              </a:rPr>
              <a:t>Rewards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3872" y="1636776"/>
            <a:ext cx="374903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36208" y="12618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335024"/>
            <a:ext cx="14813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09E30"/>
                </a:solidFill>
                <a:latin typeface="Microsoft YaHei"/>
              </a:rPr>
              <a:t>Group
Advantage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35824" y="1636776"/>
            <a:ext cx="374903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12618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335024"/>
            <a:ext cx="14813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B8A62"/>
                </a:solidFill>
                <a:latin typeface="Microsoft YaHei"/>
              </a:rPr>
              <a:t>Actor
Update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37776" y="1636776"/>
            <a:ext cx="374903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40112" y="12618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7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1335024"/>
            <a:ext cx="14813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5A63"/>
                </a:solidFill>
                <a:latin typeface="Microsoft YaHei"/>
              </a:rPr>
              <a:t>Weight
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578608"/>
            <a:ext cx="4983480" cy="2331720"/>
          </a:xfrm>
          <a:prstGeom prst="roundRect">
            <a:avLst>
              <a:gd name="adj" fmla="val 8000"/>
            </a:avLst>
          </a:prstGeom>
          <a:solidFill>
            <a:srgbClr val="1D2830"/>
          </a:solidFill>
          <a:ln w="12700">
            <a:solidFill>
              <a:srgbClr val="1D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2852928"/>
            <a:ext cx="4434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GRPO 核心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355848"/>
            <a:ext cx="4434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A3DFE1"/>
                </a:solidFill>
                <a:latin typeface="Microsoft YaHei"/>
              </a:rPr>
              <a:t>Aᵢ = (rᵢ − mean(r_group)) / (std + ε)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096512"/>
            <a:ext cx="4434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5DFE1"/>
                </a:solidFill>
                <a:latin typeface="Microsoft YaHei"/>
              </a:rPr>
              <a:t>同一 prompt 内做相对比较，优势来自组内 reward 差异。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8" y="2578608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2862072"/>
            <a:ext cx="45720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2834640"/>
            <a:ext cx="467258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本次 smoke 观测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383280"/>
            <a:ext cx="1325880" cy="411480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2700">
            <a:solidFill>
              <a:srgbClr val="E1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38328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B8A62"/>
                </a:solidFill>
                <a:latin typeface="Microsoft YaHei"/>
              </a:rPr>
              <a:t>r₁ = 1.0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3383280"/>
            <a:ext cx="1325880" cy="411480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2700">
            <a:solidFill>
              <a:srgbClr val="E1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338328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B8A62"/>
                </a:solidFill>
                <a:latin typeface="Microsoft YaHei"/>
              </a:rPr>
              <a:t>r₂ = 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410712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76F51"/>
                </a:solidFill>
                <a:latin typeface="Microsoft YaHei"/>
              </a:rPr>
              <a:t>=&gt; A₁=A₂=0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069080"/>
            <a:ext cx="4572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4"/>
                </a:solidFill>
                <a:latin typeface="Microsoft YaHei"/>
              </a:rPr>
              <a:t>policy loss=0、grad norm=0 是 reward 无方差的预期结果，
不是训练链路未执行。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85232"/>
            <a:ext cx="10744200" cy="566928"/>
          </a:xfrm>
          <a:prstGeom prst="roundRect">
            <a:avLst>
              <a:gd name="adj" fmla="val 8000"/>
            </a:avLst>
          </a:prstGeom>
          <a:solidFill>
            <a:srgbClr val="FAF0D7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376672"/>
            <a:ext cx="102412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D2830"/>
                </a:solidFill>
                <a:latin typeface="Microsoft YaHei"/>
              </a:rPr>
              <a:t>下一阶段的关键不是强行制造非零梯度，而是引入难度分层、失败样本与部分奖励，使组内产生可学习排序。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RL 更新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并行布局与 GPU 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同一组 H200 在 rollout 和 actor train 两个阶段间切换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170432"/>
            <a:ext cx="31546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1389888"/>
            <a:ext cx="1051560" cy="329184"/>
          </a:xfrm>
          <a:prstGeom prst="roundRect">
            <a:avLst>
              <a:gd name="adj" fmla="val 8000"/>
            </a:avLst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389888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H200 #0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1399032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~141 GiB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1993392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E5EEF7"/>
          </a:solidFill>
          <a:ln w="12700">
            <a:solidFill>
              <a:srgbClr val="E5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112264"/>
            <a:ext cx="2240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70A6"/>
                </a:solidFill>
                <a:latin typeface="Microsoft YaHei"/>
              </a:rPr>
              <a:t>SGLang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487168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830"/>
                </a:solidFill>
                <a:latin typeface="Cascadia Mono"/>
              </a:rPr>
              <a:t>TP=2  /  EP=2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364992"/>
            <a:ext cx="2606040" cy="1444752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2700">
            <a:solidFill>
              <a:srgbClr val="E1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547872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8A62"/>
                </a:solidFill>
                <a:latin typeface="Microsoft YaHei"/>
              </a:rPr>
              <a:t>Megatron EP rank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913632"/>
            <a:ext cx="2240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830"/>
                </a:solidFill>
                <a:latin typeface="Cascadia Mono"/>
              </a:rPr>
              <a:t>TP1 / EP2 / DP2
ETP1 / PP1 / CP1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9616" y="5084064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7F9F8"/>
          </a:solidFill>
          <a:ln w="12700">
            <a:solidFill>
              <a:srgbClr val="F7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9616" y="508406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B74"/>
                </a:solidFill>
                <a:latin typeface="Microsoft YaHei"/>
              </a:rPr>
              <a:t>sleep / wake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1170432"/>
            <a:ext cx="31546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26864" y="1389888"/>
            <a:ext cx="1051560" cy="329184"/>
          </a:xfrm>
          <a:prstGeom prst="roundRect">
            <a:avLst>
              <a:gd name="adj" fmla="val 8000"/>
            </a:avLst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1389888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H200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1399032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~141 GiB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1993392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E5EEF7"/>
          </a:solidFill>
          <a:ln w="12700">
            <a:solidFill>
              <a:srgbClr val="E5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2112264"/>
            <a:ext cx="2240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70A6"/>
                </a:solidFill>
                <a:latin typeface="Microsoft YaHei"/>
              </a:rPr>
              <a:t>SGLang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2487168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830"/>
                </a:solidFill>
                <a:latin typeface="Cascadia Mono"/>
              </a:rPr>
              <a:t>TP=2  /  EP=2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1728" y="3364992"/>
            <a:ext cx="2606040" cy="1444752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2700">
            <a:solidFill>
              <a:srgbClr val="E1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547872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8A62"/>
                </a:solidFill>
                <a:latin typeface="Microsoft YaHei"/>
              </a:rPr>
              <a:t>Megatron EP rank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3913632"/>
            <a:ext cx="2240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2830"/>
                </a:solidFill>
                <a:latin typeface="Cascadia Mono"/>
              </a:rPr>
              <a:t>TP1 / EP2 / DP2
ETP1 / PP1 / CP1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57216" y="5084064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7F9F8"/>
          </a:solidFill>
          <a:ln w="12700">
            <a:solidFill>
              <a:srgbClr val="F7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216" y="508406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B74"/>
                </a:solidFill>
                <a:latin typeface="Microsoft YaHei"/>
              </a:rPr>
              <a:t>sleep / wake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1170432"/>
            <a:ext cx="3310128" cy="4526280"/>
          </a:xfrm>
          <a:prstGeom prst="roundRect">
            <a:avLst>
              <a:gd name="adj" fmla="val 8000"/>
            </a:avLst>
          </a:prstGeom>
          <a:solidFill>
            <a:srgbClr val="1D2830"/>
          </a:solidFill>
          <a:ln w="12700">
            <a:solidFill>
              <a:srgbClr val="1D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8" y="1463040"/>
            <a:ext cx="2697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为什么是这个布局</a:t>
            </a:r>
          </a:p>
        </p:txBody>
      </p:sp>
      <p:sp>
        <p:nvSpPr>
          <p:cNvPr id="32" name="Oval 31"/>
          <p:cNvSpPr/>
          <p:nvPr/>
        </p:nvSpPr>
        <p:spPr>
          <a:xfrm>
            <a:off x="8430768" y="2029968"/>
            <a:ext cx="274320" cy="274320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20299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2002536"/>
            <a:ext cx="9601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权重同步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1993392"/>
            <a:ext cx="1417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DD8DB"/>
                </a:solidFill>
                <a:latin typeface="Microsoft YaHei"/>
              </a:rPr>
              <a:t>actor EP2 与 SGLang EP2 的 expert shard 兼容。</a:t>
            </a:r>
          </a:p>
        </p:txBody>
      </p:sp>
      <p:sp>
        <p:nvSpPr>
          <p:cNvPr id="36" name="Oval 35"/>
          <p:cNvSpPr/>
          <p:nvPr/>
        </p:nvSpPr>
        <p:spPr>
          <a:xfrm>
            <a:off x="8430768" y="2825496"/>
            <a:ext cx="274320" cy="274320"/>
          </a:xfrm>
          <a:prstGeom prst="ellipse">
            <a:avLst/>
          </a:prstGeom>
          <a:solidFill>
            <a:srgbClr val="E09E30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2825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2798064"/>
            <a:ext cx="9601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动态分箱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2788920"/>
            <a:ext cx="1417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DD8DB"/>
                </a:solidFill>
                <a:latin typeface="Microsoft YaHei"/>
              </a:rPr>
              <a:t>DP2 配合 max_tokens_per_gpu=40000 得到偶数 bins。</a:t>
            </a:r>
          </a:p>
        </p:txBody>
      </p:sp>
      <p:sp>
        <p:nvSpPr>
          <p:cNvPr id="40" name="Oval 39"/>
          <p:cNvSpPr/>
          <p:nvPr/>
        </p:nvSpPr>
        <p:spPr>
          <a:xfrm>
            <a:off x="8430768" y="3621024"/>
            <a:ext cx="274320" cy="274320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36210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3104" y="3593592"/>
            <a:ext cx="9601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显存复用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3584448"/>
            <a:ext cx="1417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DD8DB"/>
                </a:solidFill>
                <a:latin typeface="Microsoft YaHei"/>
              </a:rPr>
              <a:t>rollout 和 train 不同时常驻完整峰值。</a:t>
            </a:r>
          </a:p>
        </p:txBody>
      </p:sp>
      <p:sp>
        <p:nvSpPr>
          <p:cNvPr id="44" name="Oval 43"/>
          <p:cNvSpPr/>
          <p:nvPr/>
        </p:nvSpPr>
        <p:spPr>
          <a:xfrm>
            <a:off x="8430768" y="4416552"/>
            <a:ext cx="274320" cy="2743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44165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33104" y="4389120"/>
            <a:ext cx="9601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网络约束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4379976"/>
            <a:ext cx="1417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DD8DB"/>
                </a:solidFill>
                <a:latin typeface="Microsoft YaHei"/>
              </a:rPr>
              <a:t>两卡无可用 NVLink，NCCL_NVLS_ENABLE=0。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并行与调度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35B-A3B 的真正瓶颈：完整参数与长序列中间张量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MoE 每 token 只激活部分 expert，但训练必须保存和更新完整参数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08176"/>
            <a:ext cx="21579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F7C86"/>
                </a:solidFill>
                <a:latin typeface="Microsoft YaHei"/>
              </a:rPr>
              <a:t>65 GiB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转换模型 / checkpoint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18872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408176"/>
            <a:ext cx="21579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770A6"/>
                </a:solidFill>
                <a:latin typeface="Microsoft YaHei"/>
              </a:rPr>
              <a:t>121 GiB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847088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file-backed FP32 master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08176"/>
            <a:ext cx="21579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76F51"/>
                </a:solidFill>
                <a:latin typeface="Microsoft YaHei"/>
              </a:rPr>
              <a:t>33.98 GiB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47088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曾出现的 full logits FP32 扩张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18872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408176"/>
            <a:ext cx="21579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09E30"/>
                </a:solidFill>
                <a:latin typeface="Microsoft YaHei"/>
              </a:rPr>
              <a:t>~60 GiB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847088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step 后释放的 BF16 staging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88920"/>
            <a:ext cx="662940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090672"/>
            <a:ext cx="45720" cy="256032"/>
          </a:xfrm>
          <a:prstGeom prst="rect">
            <a:avLst/>
          </a:prstGeom>
          <a:solidFill>
            <a:srgbClr val="0F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063240"/>
            <a:ext cx="586130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实测资源边界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D2830"/>
                </a:solidFill>
                <a:latin typeface="Microsoft YaHei"/>
              </a:rPr>
              <a:t>GPU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3721608"/>
            <a:ext cx="3886200" cy="164592"/>
          </a:xfrm>
          <a:prstGeom prst="roundRect">
            <a:avLst>
              <a:gd name="adj" fmla="val 8000"/>
            </a:avLst>
          </a:prstGeom>
          <a:solidFill>
            <a:srgbClr val="E8ECEB"/>
          </a:solidFill>
          <a:ln w="12700">
            <a:solidFill>
              <a:srgbClr val="E8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27632" y="3721608"/>
            <a:ext cx="3602066" cy="164592"/>
          </a:xfrm>
          <a:prstGeom prst="roundRect">
            <a:avLst>
              <a:gd name="adj" fmla="val 8000"/>
            </a:avLst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3666744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0F7C86"/>
                </a:solidFill>
                <a:latin typeface="Microsoft YaHei"/>
              </a:rPr>
              <a:t>130.7/141.0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33672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D2830"/>
                </a:solidFill>
                <a:latin typeface="Microsoft YaHei"/>
              </a:rPr>
              <a:t>GPU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27632" y="4251960"/>
            <a:ext cx="3886200" cy="164592"/>
          </a:xfrm>
          <a:prstGeom prst="roundRect">
            <a:avLst>
              <a:gd name="adj" fmla="val 8000"/>
            </a:avLst>
          </a:prstGeom>
          <a:solidFill>
            <a:srgbClr val="E8ECEB"/>
          </a:solidFill>
          <a:ln w="12700">
            <a:solidFill>
              <a:srgbClr val="E8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27632" y="4251960"/>
            <a:ext cx="2937608" cy="164592"/>
          </a:xfrm>
          <a:prstGeom prst="roundRect">
            <a:avLst>
              <a:gd name="adj" fmla="val 8000"/>
            </a:avLst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96128" y="4197096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3770A6"/>
                </a:solidFill>
                <a:latin typeface="Microsoft YaHei"/>
              </a:rPr>
              <a:t>106.6/141.0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64024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D2830"/>
                </a:solidFill>
                <a:latin typeface="Microsoft YaHei"/>
              </a:rPr>
              <a:t>Host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27632" y="4782312"/>
            <a:ext cx="3886200" cy="164592"/>
          </a:xfrm>
          <a:prstGeom prst="roundRect">
            <a:avLst>
              <a:gd name="adj" fmla="val 8000"/>
            </a:avLst>
          </a:prstGeom>
          <a:solidFill>
            <a:srgbClr val="E8ECEB"/>
          </a:solidFill>
          <a:ln w="12700">
            <a:solidFill>
              <a:srgbClr val="E8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627632" y="4782312"/>
            <a:ext cx="3839827" cy="16459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96128" y="4727448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E76F51"/>
                </a:solidFill>
                <a:latin typeface="Microsoft YaHei"/>
              </a:rPr>
              <a:t>248.4/251.4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93792"/>
            <a:ext cx="5897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Host 248.41 GiB 是 staging 未释放时的失败运行，不是最终常态。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2788920"/>
            <a:ext cx="3931920" cy="2578608"/>
          </a:xfrm>
          <a:prstGeom prst="roundRect">
            <a:avLst>
              <a:gd name="adj" fmla="val 8000"/>
            </a:avLst>
          </a:prstGeom>
          <a:solidFill>
            <a:srgbClr val="1D2830"/>
          </a:solidFill>
          <a:ln w="12700">
            <a:solidFill>
              <a:srgbClr val="1D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82127" y="3081528"/>
            <a:ext cx="3337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工程判断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584448"/>
            <a:ext cx="3401568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• 显存不能按两卡总和简单相加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• active parameters 不能代表训练状态大小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• OOM 的失败申请大小决定排查方向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内存预算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内存工程：把峰值拆开，而不是关闭保护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最终方案同时控制 GPU loss 峰值、CPU optimizer 状态和 checkpoint 保存峰值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188720"/>
            <a:ext cx="3456432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444752"/>
            <a:ext cx="1645920" cy="329184"/>
          </a:xfrm>
          <a:prstGeom prst="roundRect">
            <a:avLst>
              <a:gd name="adj" fmla="val 8000"/>
            </a:avLst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4475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01952"/>
            <a:ext cx="2971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D2830"/>
                </a:solidFill>
                <a:latin typeface="Microsoft YaHei"/>
              </a:rPr>
              <a:t>GPU loss 路径</a:t>
            </a:r>
          </a:p>
        </p:txBody>
      </p:sp>
      <p:sp>
        <p:nvSpPr>
          <p:cNvPr id="10" name="Oval 9"/>
          <p:cNvSpPr/>
          <p:nvPr/>
        </p:nvSpPr>
        <p:spPr>
          <a:xfrm>
            <a:off x="877824" y="2560320"/>
            <a:ext cx="246888" cy="246888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56032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532888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830"/>
                </a:solidFill>
                <a:latin typeface="Microsoft YaHei"/>
              </a:rPr>
              <a:t>完整 logits 保持 BF16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3182112"/>
            <a:ext cx="246888" cy="246888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154680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仅 64-token chunk 转 FP32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803904"/>
            <a:ext cx="246888" cy="246888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803904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76472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backward 重算 softmax</a:t>
            </a:r>
          </a:p>
        </p:txBody>
      </p:sp>
      <p:sp>
        <p:nvSpPr>
          <p:cNvPr id="19" name="Oval 18"/>
          <p:cNvSpPr/>
          <p:nvPr/>
        </p:nvSpPr>
        <p:spPr>
          <a:xfrm>
            <a:off x="877824" y="4425696"/>
            <a:ext cx="246888" cy="246888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42569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398264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64 MiB saver margin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3" y="1188720"/>
            <a:ext cx="3456432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72583" y="1444752"/>
            <a:ext cx="1645920" cy="329184"/>
          </a:xfrm>
          <a:prstGeom prst="roundRect">
            <a:avLst>
              <a:gd name="adj" fmla="val 8000"/>
            </a:avLst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3" y="144475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1901952"/>
            <a:ext cx="2971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D2830"/>
                </a:solidFill>
                <a:latin typeface="Microsoft YaHei"/>
              </a:rPr>
              <a:t>CPU optimizer</a:t>
            </a:r>
          </a:p>
        </p:txBody>
      </p:sp>
      <p:sp>
        <p:nvSpPr>
          <p:cNvPr id="26" name="Oval 25"/>
          <p:cNvSpPr/>
          <p:nvPr/>
        </p:nvSpPr>
        <p:spPr>
          <a:xfrm>
            <a:off x="4700015" y="2560320"/>
            <a:ext cx="246888" cy="246888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5" y="256032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3" y="2532888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830"/>
                </a:solidFill>
                <a:latin typeface="Microsoft YaHei"/>
              </a:rPr>
              <a:t>FP32 master 映射到 /data</a:t>
            </a:r>
          </a:p>
        </p:txBody>
      </p:sp>
      <p:sp>
        <p:nvSpPr>
          <p:cNvPr id="29" name="Oval 28"/>
          <p:cNvSpPr/>
          <p:nvPr/>
        </p:nvSpPr>
        <p:spPr>
          <a:xfrm>
            <a:off x="4700015" y="3182112"/>
            <a:ext cx="246888" cy="246888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5" y="3182112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4063" y="3154680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BF16 main / staging grad</a:t>
            </a:r>
          </a:p>
        </p:txBody>
      </p:sp>
      <p:sp>
        <p:nvSpPr>
          <p:cNvPr id="32" name="Oval 31"/>
          <p:cNvSpPr/>
          <p:nvPr/>
        </p:nvSpPr>
        <p:spPr>
          <a:xfrm>
            <a:off x="4700015" y="3803904"/>
            <a:ext cx="246888" cy="246888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5" y="3803904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3" y="3776472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StatelessAdam 不保留 moments</a:t>
            </a:r>
          </a:p>
        </p:txBody>
      </p:sp>
      <p:sp>
        <p:nvSpPr>
          <p:cNvPr id="35" name="Oval 34"/>
          <p:cNvSpPr/>
          <p:nvPr/>
        </p:nvSpPr>
        <p:spPr>
          <a:xfrm>
            <a:off x="4700015" y="4425696"/>
            <a:ext cx="246888" cy="246888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0015" y="442569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3" y="4398264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checkpoint 不保存 optim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6175" y="1188720"/>
            <a:ext cx="3456432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94775" y="1444752"/>
            <a:ext cx="1645920" cy="329184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4775" y="144475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5" y="1901952"/>
            <a:ext cx="2971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D2830"/>
                </a:solidFill>
                <a:latin typeface="Microsoft YaHei"/>
              </a:rPr>
              <a:t>生命周期</a:t>
            </a:r>
          </a:p>
        </p:txBody>
      </p:sp>
      <p:sp>
        <p:nvSpPr>
          <p:cNvPr id="42" name="Oval 41"/>
          <p:cNvSpPr/>
          <p:nvPr/>
        </p:nvSpPr>
        <p:spPr>
          <a:xfrm>
            <a:off x="8522207" y="2560320"/>
            <a:ext cx="246888" cy="2468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7" y="256032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5" y="2532888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830"/>
                </a:solidFill>
                <a:latin typeface="Microsoft YaHei"/>
              </a:rPr>
              <a:t>step 后释放 decoupled_grad</a:t>
            </a:r>
          </a:p>
        </p:txBody>
      </p:sp>
      <p:sp>
        <p:nvSpPr>
          <p:cNvPr id="45" name="Oval 44"/>
          <p:cNvSpPr/>
          <p:nvPr/>
        </p:nvSpPr>
        <p:spPr>
          <a:xfrm>
            <a:off x="8522207" y="3182112"/>
            <a:ext cx="246888" cy="2468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7" y="3182112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6255" y="3154680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清空 cpu_copy_map_grad</a:t>
            </a:r>
          </a:p>
        </p:txBody>
      </p:sp>
      <p:sp>
        <p:nvSpPr>
          <p:cNvPr id="48" name="Oval 47"/>
          <p:cNvSpPr/>
          <p:nvPr/>
        </p:nvSpPr>
        <p:spPr>
          <a:xfrm>
            <a:off x="8522207" y="3803904"/>
            <a:ext cx="246888" cy="2468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22207" y="3803904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6255" y="3776472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host_used 约 194 -&gt; 127 GiB</a:t>
            </a:r>
          </a:p>
        </p:txBody>
      </p:sp>
      <p:sp>
        <p:nvSpPr>
          <p:cNvPr id="51" name="Oval 50"/>
          <p:cNvSpPr/>
          <p:nvPr/>
        </p:nvSpPr>
        <p:spPr>
          <a:xfrm>
            <a:off x="8522207" y="4425696"/>
            <a:ext cx="246888" cy="2468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22207" y="442569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06255" y="4398264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保留 Ray 98% 内存保护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" y="5806440"/>
            <a:ext cx="11100816" cy="475488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888736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B8A62"/>
                </a:solidFill>
                <a:latin typeface="Microsoft YaHei"/>
              </a:rPr>
              <a:t>结果：backward、optimizer、65 GiB checkpoint 全部完成；没有禁用 Ray monitor，也没有修改宿主机 swap。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内存工程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远程 Sandbox：隔离执行，同时收紧控制面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远端 Docker 是强权限接口，架构重点是减少暴露面与凭据传播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7C86"/>
                </a:solidFill>
                <a:latin typeface="Microsoft YaHei"/>
              </a:rPr>
              <a:t>.102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专用 SSH 私钥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44368" y="1737360"/>
            <a:ext cx="411480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10712" y="123444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417320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770A6"/>
                </a:solidFill>
                <a:latin typeface="Microsoft YaHei"/>
              </a:rPr>
              <a:t>SSH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1764792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StrictHostKeyChecking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1737360"/>
            <a:ext cx="411480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27064" y="123444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417320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9E30"/>
                </a:solidFill>
                <a:latin typeface="Microsoft YaHei"/>
              </a:rPr>
              <a:t>Unix 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764792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每次运行临时创建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77072" y="1737360"/>
            <a:ext cx="411480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43416" y="123444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417320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76F51"/>
                </a:solidFill>
                <a:latin typeface="Microsoft YaHei"/>
              </a:rPr>
              <a:t>.101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1764792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只监听本地 socket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88920"/>
            <a:ext cx="5349240" cy="2542032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2700">
            <a:solidFill>
              <a:srgbClr val="E1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099816"/>
            <a:ext cx="45720" cy="256032"/>
          </a:xfrm>
          <a:prstGeom prst="rect">
            <a:avLst/>
          </a:prstGeom>
          <a:solidFill>
            <a:srgbClr val="2B8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3072384"/>
            <a:ext cx="458114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当前保留的安全控制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547872"/>
            <a:ext cx="470916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公钥认证，禁用密码回退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不开放 Docker TCP 2375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私钥不挂载进 runtime / task image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task 与 clean-eval 容器按 trajectory 清理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788920"/>
            <a:ext cx="5257800" cy="2542032"/>
          </a:xfrm>
          <a:prstGeom prst="roundRect">
            <a:avLst>
              <a:gd name="adj" fmla="val 8000"/>
            </a:avLst>
          </a:prstGeom>
          <a:solidFill>
            <a:srgbClr val="F9E5E3"/>
          </a:solidFill>
          <a:ln w="12700">
            <a:solidFill>
              <a:srgbClr val="F9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3099816"/>
            <a:ext cx="45720" cy="256032"/>
          </a:xfrm>
          <a:prstGeom prst="rect">
            <a:avLst/>
          </a:prstGeom>
          <a:solidFill>
            <a:srgbClr val="BE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5976" y="3072384"/>
            <a:ext cx="448970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仍需管理的风险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47872"/>
            <a:ext cx="461772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.101 docker 组权限等价于 root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只允许可信 task image 与受控 dataset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adapter 18001 需限制在可信局域网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异常 SIGKILL 后需按 label 精确清理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隔离与安全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17 次运行：问题按层收敛，而不是靠重复重试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先证明 remote rollout，再依次解决初始化、并行、loss 峰值和保存峰值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578608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RUN 1–6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初始化 /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87168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B6B74"/>
                </a:solidFill>
                <a:latin typeface="Microsoft YaHei"/>
              </a:rPr>
              <a:t>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21488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E4842"/>
                </a:solidFill>
                <a:latin typeface="Microsoft YaHei"/>
              </a:rPr>
              <a:t>60 GiB CUDA OOM
Ray 95% kill
RPC 次生错误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730752"/>
            <a:ext cx="2121408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9136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B6B74"/>
                </a:solidFill>
                <a:latin typeface="Microsoft YaHei"/>
              </a:rPr>
              <a:t>收敛方案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24528"/>
            <a:ext cx="21488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8A62"/>
                </a:solidFill>
                <a:latin typeface="Microsoft YaHei"/>
              </a:rPr>
              <a:t>CPU offload
file-backed master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45536" y="3383280"/>
            <a:ext cx="237744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19856" y="1234440"/>
            <a:ext cx="2578608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21024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48132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RUN 7–9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1965960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Batch /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487168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B6B74"/>
                </a:solidFill>
                <a:latin typeface="Microsoft YaHei"/>
              </a:rPr>
              <a:t>现象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2788920"/>
            <a:ext cx="21488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E4842"/>
                </a:solidFill>
                <a:latin typeface="Microsoft YaHei"/>
              </a:rPr>
              <a:t>3 bins vs DP2
expert shard mismatch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21024" y="3730752"/>
            <a:ext cx="2121408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21024" y="39136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B6B74"/>
                </a:solidFill>
                <a:latin typeface="Microsoft YaHei"/>
              </a:rPr>
              <a:t>收敛方案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4224528"/>
            <a:ext cx="21488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8A62"/>
                </a:solidFill>
                <a:latin typeface="Microsoft YaHei"/>
              </a:rPr>
              <a:t>40k token bins
actor EP2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16752" y="3383280"/>
            <a:ext cx="237744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91072" y="1234440"/>
            <a:ext cx="2578608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48132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RUN 10–15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965960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Loss / Backward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487168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B6B74"/>
                </a:solidFill>
                <a:latin typeface="Microsoft YaHei"/>
              </a:rPr>
              <a:t>现象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788920"/>
            <a:ext cx="21488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E4842"/>
                </a:solidFill>
                <a:latin typeface="Microsoft YaHei"/>
              </a:rPr>
              <a:t>486 / 122 MiB OOM
33.98 GiB FP32 logits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730752"/>
            <a:ext cx="2121408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9136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B6B74"/>
                </a:solidFill>
                <a:latin typeface="Microsoft YaHei"/>
              </a:rPr>
              <a:t>收敛方案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24528"/>
            <a:ext cx="21488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8A62"/>
                </a:solidFill>
                <a:latin typeface="Microsoft YaHei"/>
              </a:rPr>
              <a:t>BF16 full logits
64-token recompute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87968" y="3383280"/>
            <a:ext cx="237744" cy="0"/>
          </a:xfrm>
          <a:prstGeom prst="line">
            <a:avLst/>
          </a:prstGeom>
          <a:ln w="25400">
            <a:solidFill>
              <a:srgbClr val="D6DE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162288" y="1234440"/>
            <a:ext cx="2578608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63456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2B8A62"/>
          </a:solidFill>
          <a:ln w="1270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3456" y="148132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RUN 16–17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1965960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2830"/>
                </a:solidFill>
                <a:latin typeface="Microsoft YaHei"/>
              </a:rPr>
              <a:t>Save / Cleanup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6" y="2487168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B6B74"/>
                </a:solidFill>
                <a:latin typeface="Microsoft YaHei"/>
              </a:rPr>
              <a:t>现象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2788920"/>
            <a:ext cx="21488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E4842"/>
                </a:solidFill>
                <a:latin typeface="Microsoft YaHei"/>
              </a:rPr>
              <a:t>Ray 98% 仅超 26 MiB
保存 worker 被杀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63456" y="3730752"/>
            <a:ext cx="2121408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3456" y="39136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B6B74"/>
                </a:solidFill>
                <a:latin typeface="Microsoft YaHei"/>
              </a:rPr>
              <a:t>收敛方案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6" y="4224528"/>
            <a:ext cx="21488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8A62"/>
                </a:solidFill>
                <a:latin typeface="Microsoft YaHei"/>
              </a:rPr>
              <a:t>释放 ~60 GiB staging
完整成功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76072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D2830"/>
                </a:solidFill>
                <a:latin typeface="Microsoft YaHei"/>
              </a:rPr>
              <a:t>诊断原则：查第一个异常；ActorUnavailable / broken pipe 通常只是上游 OOM 或 Ray kill 的级联结果。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工程收敛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最终验收：机械闭环已完整通过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Run 20260718_031727  |  Ray job raysubmit_gyexLHDqA4QXQHLf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07008"/>
            <a:ext cx="24688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99032"/>
            <a:ext cx="213969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0F7C86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D2830"/>
                </a:solidFill>
                <a:latin typeface="Microsoft YaHei"/>
              </a:rPr>
              <a:t>remote rollouts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5B6B74"/>
                </a:solidFill>
                <a:latin typeface="Microsoft YaHei"/>
              </a:rPr>
              <a:t>reward=1.00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07008"/>
            <a:ext cx="24688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399032"/>
            <a:ext cx="213969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3770A6"/>
                </a:solidFill>
                <a:latin typeface="Microsoft YaHei"/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01952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D2830"/>
                </a:solidFill>
                <a:latin typeface="Microsoft YaHei"/>
              </a:rPr>
              <a:t>actor 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94560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5B6B74"/>
                </a:solidFill>
                <a:latin typeface="Microsoft YaHei"/>
              </a:rPr>
              <a:t>forward + backward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207008"/>
            <a:ext cx="24688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399032"/>
            <a:ext cx="213969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E76F51"/>
                </a:solidFill>
                <a:latin typeface="Microsoft YaHe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901952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D2830"/>
                </a:solidFill>
                <a:latin typeface="Microsoft YaHei"/>
              </a:rPr>
              <a:t>checkpoint 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194560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5B6B74"/>
                </a:solidFill>
                <a:latin typeface="Microsoft YaHei"/>
              </a:rPr>
              <a:t>65 GiB saved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1207008"/>
            <a:ext cx="24688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399032"/>
            <a:ext cx="213969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B8A62"/>
                </a:solidFill>
                <a:latin typeface="Microsoft YaHei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901952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D2830"/>
                </a:solidFill>
                <a:latin typeface="Microsoft YaHei"/>
              </a:rPr>
              <a:t>Ray Job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194560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5B6B74"/>
                </a:solidFill>
                <a:latin typeface="Microsoft YaHei"/>
              </a:rPr>
              <a:t>cpu_master cleaned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99232"/>
            <a:ext cx="6537960" cy="2423160"/>
          </a:xfrm>
          <a:prstGeom prst="roundRect">
            <a:avLst>
              <a:gd name="adj" fmla="val 8000"/>
            </a:avLst>
          </a:prstGeom>
          <a:solidFill>
            <a:srgbClr val="1D2830"/>
          </a:solidFill>
          <a:ln w="12700">
            <a:solidFill>
              <a:srgbClr val="1D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73552"/>
            <a:ext cx="5989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运行指标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86200"/>
            <a:ext cx="1645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A3DFE1"/>
                </a:solidFill>
                <a:latin typeface="Microsoft YaHei"/>
              </a:rPr>
              <a:t>2048.1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DD8DB"/>
                </a:solidFill>
                <a:latin typeface="Microsoft YaHei"/>
              </a:rPr>
              <a:t>actor 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3886200"/>
            <a:ext cx="1645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AECCE8"/>
                </a:solidFill>
                <a:latin typeface="Microsoft YaHei"/>
              </a:rPr>
              <a:t>27.09 tok/s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4343400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DD8DB"/>
                </a:solidFill>
                <a:latin typeface="Microsoft YaHei"/>
              </a:rPr>
              <a:t>actor throughput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6" y="3886200"/>
            <a:ext cx="1645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6B89D"/>
                </a:solidFill>
                <a:latin typeface="Microsoft YaHei"/>
              </a:rPr>
              <a:t>374.2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4343400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DD8DB"/>
                </a:solidFill>
                <a:latin typeface="Microsoft YaHei"/>
              </a:rPr>
              <a:t>checkpoint save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3776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checkpoint marker=0  /  Ray Job succeeded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2999232"/>
            <a:ext cx="4023360" cy="2423160"/>
          </a:xfrm>
          <a:prstGeom prst="roundRect">
            <a:avLst>
              <a:gd name="adj" fmla="val 8000"/>
            </a:avLst>
          </a:prstGeom>
          <a:solidFill>
            <a:srgbClr val="FAF0D7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300984"/>
            <a:ext cx="45720" cy="256032"/>
          </a:xfrm>
          <a:prstGeom prst="rect">
            <a:avLst/>
          </a:prstGeom>
          <a:solidFill>
            <a:srgbClr val="E0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0416" y="3273552"/>
            <a:ext cx="330098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如何解释零梯度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730752"/>
            <a:ext cx="3401568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D2830"/>
                </a:solidFill>
                <a:latin typeface="Microsoft YaHei"/>
              </a:rPr>
              <a:t>train/loss = 0
train/grad_norm = 0
原因：两条 rollout reward 都是 1，GRPO 组内 advantage 为 0。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验证结果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当前成果的边界：框架已成立，训练效果尚未被证明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把基础设施验收与算法有效性验收分开，避免过度解读 smoke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49240" cy="4553712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6510">
            <a:solidFill>
              <a:srgbClr val="2B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1508760"/>
            <a:ext cx="45720" cy="256032"/>
          </a:xfrm>
          <a:prstGeom prst="rect">
            <a:avLst/>
          </a:prstGeom>
          <a:solidFill>
            <a:srgbClr val="2B8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481328"/>
            <a:ext cx="458114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已经证明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736592" cy="3246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35B 模型可在双 H200 完成 rollout 与 actor train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远端 DockerSandbox 能执行修改与 clean eval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reward 能回到训练进程并形成 GRPO batch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actor-to-SGLang 权重同步路径兼容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optimizer step 与 iteration 0 checkpoint 可完成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失败日志、临时文件与容器有清理边界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188720"/>
            <a:ext cx="5285232" cy="4553712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 w="1651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28816" y="1508760"/>
            <a:ext cx="45720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481328"/>
            <a:ext cx="4517136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2830"/>
                </a:solidFill>
                <a:latin typeface="Microsoft YaHei"/>
              </a:rPr>
              <a:t>尚未证明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93392"/>
            <a:ext cx="4663440" cy="3246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正式代码数据集上的 reward 分布与覆盖度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非零 advantage 下的稳定参数更新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多 step 训练的收敛性与 checkpoint resume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StatelessAdam 与标准 Adam 的效果差异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多 sandbox 并发时的吞吐、隔离和资源上限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D2830"/>
                </a:solidFill>
                <a:latin typeface="Microsoft YaHei"/>
              </a:rPr>
              <a:t>• 长周期运行中的容器泄漏与节点故障恢复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能力边界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7C86"/>
                </a:solidFill>
                <a:latin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830"/>
                </a:solidFill>
                <a:latin typeface="Microsoft YaHei"/>
              </a:rPr>
              <a:t>下一阶段：从“跑通闭环”进入“验证学习”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21792"/>
            <a:ext cx="10469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4"/>
                </a:solidFill>
                <a:latin typeface="Microsoft YaHei"/>
              </a:rPr>
              <a:t>优先创造有信息量的 reward，再扩吞吐和训练时长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13716"/>
          </a:xfrm>
          <a:prstGeom prst="rect">
            <a:avLst/>
          </a:prstGeom>
          <a:solidFill>
            <a:srgbClr val="D6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944" y="1298448"/>
            <a:ext cx="475488" cy="475488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29844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1216152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数据与奖励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1170432"/>
            <a:ext cx="46177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252728"/>
            <a:ext cx="41605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引入成功/失败/部分成功样本
校验 image 与 reward 可重复性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170432"/>
            <a:ext cx="3566160" cy="786384"/>
          </a:xfrm>
          <a:prstGeom prst="roundRect">
            <a:avLst>
              <a:gd name="adj" fmla="val 8000"/>
            </a:avLst>
          </a:prstGeom>
          <a:solidFill>
            <a:srgbClr val="DEF1F1"/>
          </a:solidFill>
          <a:ln w="12700">
            <a:solidFill>
              <a:srgbClr val="DE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12724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7C86"/>
                </a:solidFill>
                <a:latin typeface="Microsoft YaHei"/>
              </a:rPr>
              <a:t>组内 reward 方差 &gt; 0
clean eval 可复跑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2523744"/>
            <a:ext cx="475488" cy="475488"/>
          </a:xfrm>
          <a:prstGeom prst="ellipse">
            <a:avLst/>
          </a:prstGeom>
          <a:solidFill>
            <a:srgbClr val="3770A6"/>
          </a:solidFill>
          <a:ln w="12700">
            <a:solidFill>
              <a:srgbClr val="37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52374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441448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非零更新验证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99232" y="2395728"/>
            <a:ext cx="46177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2478024"/>
            <a:ext cx="41605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短跑 5–20 steps
检查 loss / grad / 参数变化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395728"/>
            <a:ext cx="3566160" cy="786384"/>
          </a:xfrm>
          <a:prstGeom prst="roundRect">
            <a:avLst>
              <a:gd name="adj" fmla="val 8000"/>
            </a:avLst>
          </a:prstGeom>
          <a:solidFill>
            <a:srgbClr val="E5EEF7"/>
          </a:solidFill>
          <a:ln w="12700">
            <a:solidFill>
              <a:srgbClr val="E5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478024"/>
            <a:ext cx="312724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770A6"/>
                </a:solidFill>
                <a:latin typeface="Microsoft YaHei"/>
              </a:rPr>
              <a:t>checkpoint 可续训
指标方向合理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" y="3749040"/>
            <a:ext cx="475488" cy="475488"/>
          </a:xfrm>
          <a:prstGeom prst="ellipse">
            <a:avLst/>
          </a:prstGeom>
          <a:solidFill>
            <a:srgbClr val="E09E30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7490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3666744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优化器语义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99232" y="3621024"/>
            <a:ext cx="46177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7832" y="3703320"/>
            <a:ext cx="41605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对比 StatelessAdam 与可承载的
有状态 optimizer / 分片方案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621024"/>
            <a:ext cx="3566160" cy="786384"/>
          </a:xfrm>
          <a:prstGeom prst="roundRect">
            <a:avLst>
              <a:gd name="adj" fmla="val 8000"/>
            </a:avLst>
          </a:prstGeom>
          <a:solidFill>
            <a:srgbClr val="FAF0D7"/>
          </a:solidFill>
          <a:ln w="12700">
            <a:solidFill>
              <a:srgbClr val="FA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703320"/>
            <a:ext cx="312724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09E30"/>
                </a:solidFill>
                <a:latin typeface="Microsoft YaHei"/>
              </a:rPr>
              <a:t>质量与 I/O 成本可解释</a:t>
            </a:r>
          </a:p>
        </p:txBody>
      </p:sp>
      <p:sp>
        <p:nvSpPr>
          <p:cNvPr id="27" name="Oval 26"/>
          <p:cNvSpPr/>
          <p:nvPr/>
        </p:nvSpPr>
        <p:spPr>
          <a:xfrm>
            <a:off x="694944" y="4974336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74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89204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2830"/>
                </a:solidFill>
                <a:latin typeface="Microsoft YaHei"/>
              </a:rPr>
              <a:t>并发与观测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99232" y="4846320"/>
            <a:ext cx="46177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27832" y="4928616"/>
            <a:ext cx="41605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830"/>
                </a:solidFill>
                <a:latin typeface="Microsoft YaHei"/>
              </a:rPr>
              <a:t>提升 sandbox 并发
建立失败分类与资源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4846320"/>
            <a:ext cx="3566160" cy="786384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 w="12700"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928616"/>
            <a:ext cx="312724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76F51"/>
                </a:solidFill>
                <a:latin typeface="Microsoft YaHei"/>
              </a:rPr>
              <a:t>rollout 吞吐提升
无残留容器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6163056"/>
            <a:ext cx="3474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B6B74"/>
                </a:solidFill>
                <a:latin typeface="Microsoft YaHei"/>
              </a:rPr>
              <a:t>每阶段以可验收 gate 决定是否扩规模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4"/>
                </a:solidFill>
                <a:latin typeface="Microsoft YaHei"/>
              </a:rPr>
              <a:t>Agent Code RL 技术报告  |  演进计划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6539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B6B74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BD3D5"/>
                </a:solidFill>
                <a:latin typeface="Microsoft YaHei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80467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当前框架已经把 Agent Code RL
从概念连接成可运行系统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2834640"/>
            <a:ext cx="402336" cy="402336"/>
          </a:xfrm>
          <a:prstGeom prst="ellipse">
            <a:avLst/>
          </a:prstGeom>
          <a:solidFill>
            <a:srgbClr val="0F7C86"/>
          </a:solidFill>
          <a:ln w="12700">
            <a:solidFill>
              <a:srgbClr val="0F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8346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816352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807208"/>
            <a:ext cx="6903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DD8DB"/>
                </a:solidFill>
                <a:latin typeface="Microsoft YaHei"/>
              </a:rPr>
              <a:t>模型行动 -&gt; 代码执行 -&gt; clean eval -&gt; reward -&gt; GRPO 更新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639312"/>
            <a:ext cx="402336" cy="40233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6393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21024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解耦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611880"/>
            <a:ext cx="6903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DD8DB"/>
                </a:solidFill>
                <a:latin typeface="Microsoft YaHei"/>
              </a:rPr>
              <a:t>双 H200 做模型计算，远端 Docker 节点做隔离执行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E09E30"/>
          </a:solidFill>
          <a:ln w="12700">
            <a:solidFill>
              <a:srgbClr val="E09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25696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416552"/>
            <a:ext cx="6903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DD8DB"/>
                </a:solidFill>
                <a:latin typeface="Microsoft YaHei"/>
              </a:rPr>
              <a:t>已证明机械可行；下一步要证明正式数据上的学习有效性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005840"/>
            <a:ext cx="2148840" cy="4434840"/>
          </a:xfrm>
          <a:prstGeom prst="roundRect">
            <a:avLst>
              <a:gd name="adj" fmla="val 8000"/>
            </a:avLst>
          </a:prstGeom>
          <a:solidFill>
            <a:srgbClr val="26343C"/>
          </a:solidFill>
          <a:ln w="12700">
            <a:solidFill>
              <a:srgbClr val="485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28632" y="135331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参考材料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1938528"/>
            <a:ext cx="162763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B4C8CC"/>
                </a:solidFill>
                <a:latin typeface="Cascadia Mono"/>
              </a:rPr>
              <a:t>SLIME_TWO_SERVER_
ARCHITECTURE.md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779776"/>
            <a:ext cx="162763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B4C8CC"/>
                </a:solidFill>
                <a:latin typeface="Cascadia Mono"/>
              </a:rPr>
              <a:t>SLIME_QWEN35_35B_A3B_
DEBUGGING_PROCESS.md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3621024"/>
            <a:ext cx="162763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B4C8CC"/>
                </a:solidFill>
                <a:latin typeface="Cascadia Mono"/>
              </a:rPr>
              <a:t>SLIME_REMOTE_DOCKER_
35B_A3B_REPRODUCTION.md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486460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48646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Q &amp;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0936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5AA"/>
                </a:solidFill>
                <a:latin typeface="Cascadia Mono"/>
              </a:rPr>
              <a:t>Validated run: train_qwen35_35b_a3b_20260718_031727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Code RL 训练框架技术报告</dc:title>
  <dc:subject>slime + Qwen3.5-35B-A3B + 双服务器 Remote DockerSandbox</dc:subject>
  <dc:creator>slime project</dc:creator>
  <cp:keywords/>
  <dc:description>Generated from the validated 2026-07-18 deployment records.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